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5296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-457200"/>
            <a:ext cx="4572000" cy="4572000"/>
          </a:xfrm>
          <a:prstGeom prst="ellipse">
            <a:avLst/>
          </a:prstGeom>
          <a:solidFill>
            <a:srgbClr val="0D3B6E">
              <a:alpha val="35000"/>
            </a:srgbClr>
          </a:solidFill>
          <a:ln w="12700">
            <a:solidFill>
              <a:srgbClr val="0D3B6E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2560320"/>
            <a:ext cx="2743200" cy="2743200"/>
          </a:xfrm>
          <a:prstGeom prst="ellipse">
            <a:avLst/>
          </a:prstGeom>
          <a:solidFill>
            <a:srgbClr val="00838F">
              <a:alpha val="30000"/>
            </a:srgbClr>
          </a:solidFill>
          <a:ln w="12700">
            <a:solidFill>
              <a:srgbClr val="00838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22860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228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ECO-FIRST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11680" y="25603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B2EBF2"/>
                </a:solidFill>
              </a:rPr>
              <a:t>IIM JAMMU  ·  MARKETING MANAGEMENT  ·  INDIVIDUAL ASSIGNMENT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777240"/>
            <a:ext cx="7315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kern="0" spc="-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NOHBO</a:t>
            </a:r>
            <a:endParaRPr lang="en-US" sz="9600" dirty="0"/>
          </a:p>
        </p:txBody>
      </p:sp>
      <p:sp>
        <p:nvSpPr>
          <p:cNvPr id="9" name="Shape 7"/>
          <p:cNvSpPr/>
          <p:nvPr/>
        </p:nvSpPr>
        <p:spPr>
          <a:xfrm>
            <a:off x="411480" y="2267712"/>
            <a:ext cx="502920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B2EBF2"/>
                </a:solidFill>
              </a:rPr>
              <a:t>Dissolvable Single-Use Shampoo Balls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</a:rPr>
              <a:t>Shark Tank USA · Season 6  |  STP Analysis &amp; Strategic Critique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46634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Submitted by: Aadir Ben 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4663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2EBF2"/>
                </a:solidFill>
              </a:rPr>
              <a:t>Prof. Anil Gupta  |  IIM Jammu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EBF2"/>
                </a:solidFill>
              </a:rPr>
              <a:t>Nohbo · Shark Tank USA · STP Strategic Review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19933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1993392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65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552M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</a:rPr>
              <a:t>Plastic bottles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</a:rPr>
              <a:t>in landfills/yr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1170432"/>
            <a:ext cx="19933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50592" y="1170432"/>
            <a:ext cx="1993392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50592" y="1325880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$750K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450592" y="192024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</a:rPr>
              <a:t>Ask 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</a:rPr>
              <a:t>Shark Tank S6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1170432"/>
            <a:ext cx="19933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26864" y="1170432"/>
            <a:ext cx="1993392" cy="7315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26864" y="1325880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83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626864" y="192024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</a:rPr>
              <a:t>Equity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</a:rPr>
              <a:t>offered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03136" y="1170432"/>
            <a:ext cx="19933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03136" y="1170432"/>
            <a:ext cx="1993392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03136" y="1325880"/>
            <a:ext cx="19933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1B+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803136" y="192024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</a:rPr>
              <a:t>Hotel mini-bottles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</a:rPr>
              <a:t>replaced annually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542032"/>
            <a:ext cx="276148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542032"/>
            <a:ext cx="2761488" cy="45720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4048" y="25786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 PRODUCT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090672"/>
            <a:ext cx="248716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Water-activated, biodegradable single-use shampoo pod. Zero plastic packaging. Same cleansing power as liquid shampoo — activated by water on the palm.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82112" y="2542032"/>
            <a:ext cx="276148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182112" y="2542032"/>
            <a:ext cx="2761488" cy="45720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91840" y="25786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 THE CRITIQUE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19272" y="3090672"/>
            <a:ext cx="248716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Primary Shark objection: 'The market is too small.' TAM for individual eco-consumers is insufficient for venture-scale returns without a B2B hospitality pivot.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9904" y="2542032"/>
            <a:ext cx="276148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089904" y="2542032"/>
            <a:ext cx="2761488" cy="45720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99632" y="25786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  RECOMMENDATION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27064" y="3090672"/>
            <a:ext cx="248716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Re-target to B2B hospitality (hotels, airlines). One hotel chain deal equals millions of DTC customers. New positioning: 'The hotel that uses Nohbo is the hotel that cares.'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411480"/>
            <a:ext cx="2926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NOHBO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82880" y="1810512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2EBF2"/>
                </a:solidFill>
              </a:rPr>
              <a:t>The World's First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B2EBF2"/>
                </a:solidFill>
              </a:rPr>
              <a:t>Water-Activated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B2EBF2"/>
                </a:solidFill>
              </a:rPr>
              <a:t>Dissolvable Pod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" y="2788920"/>
            <a:ext cx="2962656" cy="47548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280720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2EBF2"/>
                </a:solidFill>
              </a:rPr>
              <a:t>2015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61872" y="2807208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9FF"/>
                </a:solidFill>
              </a:rPr>
              <a:t>Founded — Ben Stern, age 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4592" y="3319272"/>
            <a:ext cx="2962656" cy="475488"/>
          </a:xfrm>
          <a:prstGeom prst="rect">
            <a:avLst/>
          </a:prstGeom>
          <a:solidFill>
            <a:srgbClr val="0D3B6E">
              <a:alpha val="70000"/>
            </a:srgbClr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" y="333756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2EBF2"/>
                </a:solidFill>
              </a:rPr>
              <a:t>$750K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61872" y="333756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9FF"/>
                </a:solidFill>
              </a:rPr>
              <a:t>Shark Tank ask (Season 6)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4592" y="3849624"/>
            <a:ext cx="2962656" cy="47548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1168" y="3867912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2EBF2"/>
                </a:solidFill>
              </a:rPr>
              <a:t>5%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61872" y="3867912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9FF"/>
                </a:solidFill>
              </a:rPr>
              <a:t>Equity offered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64592" y="4379976"/>
            <a:ext cx="2962656" cy="475488"/>
          </a:xfrm>
          <a:prstGeom prst="rect">
            <a:avLst/>
          </a:prstGeom>
          <a:solidFill>
            <a:srgbClr val="0D3B6E">
              <a:alpha val="70000"/>
            </a:srgbClr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1168" y="4398264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2EBF2"/>
                </a:solidFill>
              </a:rPr>
              <a:t>~80%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61872" y="4398264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9FF"/>
                </a:solidFill>
              </a:rPr>
              <a:t>Water content in traditional shampoo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6616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838F"/>
                </a:solidFill>
              </a:rPr>
              <a:t>COMPANY ORIGIN STORY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66160" y="4572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</a:rPr>
              <a:t>What Is Nohbo?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3566160" y="987552"/>
            <a:ext cx="5303520" cy="36576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566160" y="1115568"/>
            <a:ext cx="5303520" cy="1115568"/>
          </a:xfrm>
          <a:prstGeom prst="rect">
            <a:avLst/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566160" y="1115568"/>
            <a:ext cx="64008" cy="11155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730752" y="12070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E"/>
                </a:solidFill>
              </a:rPr>
              <a:t>  The Problem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30752" y="1527048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552M plastic shampoo bottles enter landfills each year. Hotels alone use billions of single-use mini-bottles. Liquid shampoo = 80% water — consumers are paying to ship water.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66160" y="2377440"/>
            <a:ext cx="5303520" cy="1115568"/>
          </a:xfrm>
          <a:prstGeom prst="rect">
            <a:avLst/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566160" y="2377440"/>
            <a:ext cx="64008" cy="11155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730752" y="2468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E"/>
                </a:solidFill>
              </a:rPr>
              <a:t>  The Innovation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30752" y="278892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A water-soluble, biodegradable 'drop' that activates only when it contacts water in your palm. Same lather, zero plastic, fraction of the volume.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66160" y="3639312"/>
            <a:ext cx="5303520" cy="1115568"/>
          </a:xfrm>
          <a:prstGeom prst="rect">
            <a:avLst/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566160" y="3639312"/>
            <a:ext cx="64008" cy="11155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730752" y="37307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E"/>
                </a:solidFill>
              </a:rPr>
              <a:t>  The Vision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30752" y="4050792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Eliminate plastic from personal care globally. Primary route to scale: replace hotel and airline mini-bottle programs through B2B contracts.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838F"/>
                </a:solidFill>
              </a:rPr>
              <a:t>VALUE PROPOSITION FRAMEWORK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Value Proposition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36576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6400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</a:rPr>
              <a:t>"Shampoo without the bottle. A planet without the plastic."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938528"/>
            <a:ext cx="2761488" cy="292608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938528"/>
            <a:ext cx="2761488" cy="42062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450592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</a:rPr>
              <a:t>▸  </a:t>
            </a:r>
            <a:r>
              <a:rPr lang="en-US" sz="1000" dirty="0">
                <a:solidFill>
                  <a:srgbClr val="1A2B3C"/>
                </a:solidFill>
              </a:rPr>
              <a:t>552M plastic bottles in landfills annually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044952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</a:rPr>
              <a:t>▸  </a:t>
            </a:r>
            <a:r>
              <a:rPr lang="en-US" sz="1000" dirty="0">
                <a:solidFill>
                  <a:srgbClr val="1A2B3C"/>
                </a:solidFill>
              </a:rPr>
              <a:t>Hotel mini-bottles: used once, then discarded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639312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</a:rPr>
              <a:t>▸  </a:t>
            </a:r>
            <a:r>
              <a:rPr lang="en-US" sz="1000" dirty="0">
                <a:solidFill>
                  <a:srgbClr val="1A2B3C"/>
                </a:solidFill>
              </a:rPr>
              <a:t>Liquid shampoo = 80% water — inefficient to ship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4233672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</a:rPr>
              <a:t>▸  </a:t>
            </a:r>
            <a:r>
              <a:rPr lang="en-US" sz="1000" dirty="0">
                <a:solidFill>
                  <a:srgbClr val="1A2B3C"/>
                </a:solidFill>
              </a:rPr>
              <a:t>Growing regulatory &amp; consumer pressure on plastic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82112" y="1938528"/>
            <a:ext cx="2761488" cy="292608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82112" y="1938528"/>
            <a:ext cx="2761488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73552" y="196596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9272" y="2450592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▸  </a:t>
            </a:r>
            <a:r>
              <a:rPr lang="en-US" sz="1000" dirty="0">
                <a:solidFill>
                  <a:srgbClr val="1A2B3C"/>
                </a:solidFill>
              </a:rPr>
              <a:t>Water-soluble, biodegradable single-use pod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9272" y="3044952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▸  </a:t>
            </a:r>
            <a:r>
              <a:rPr lang="en-US" sz="1000" dirty="0">
                <a:solidFill>
                  <a:srgbClr val="1A2B3C"/>
                </a:solidFill>
              </a:rPr>
              <a:t>Activates only on contact with water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9272" y="3639312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▸  </a:t>
            </a:r>
            <a:r>
              <a:rPr lang="en-US" sz="1000" dirty="0">
                <a:solidFill>
                  <a:srgbClr val="1A2B3C"/>
                </a:solidFill>
              </a:rPr>
              <a:t>Zero plastic packaging — dissolves completely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9272" y="4233672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▸  </a:t>
            </a:r>
            <a:r>
              <a:rPr lang="en-US" sz="1000" dirty="0">
                <a:solidFill>
                  <a:srgbClr val="1A2B3C"/>
                </a:solidFill>
              </a:rPr>
              <a:t>Same cleansing efficacy as premium shampoo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9904" y="1938528"/>
            <a:ext cx="2761488" cy="29260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89904" y="1938528"/>
            <a:ext cx="2761488" cy="42062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81344" y="196596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DIFFERENTIATOR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27064" y="2450592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▸  </a:t>
            </a:r>
            <a:r>
              <a:rPr lang="en-US" sz="1000" dirty="0">
                <a:solidFill>
                  <a:srgbClr val="1A2B3C"/>
                </a:solidFill>
              </a:rPr>
              <a:t>First-mover in dissolvable personal care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27064" y="3044952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▸  </a:t>
            </a:r>
            <a:r>
              <a:rPr lang="en-US" sz="1000" dirty="0">
                <a:solidFill>
                  <a:srgbClr val="1A2B3C"/>
                </a:solidFill>
              </a:rPr>
              <a:t>Patent-pending water-activation formulation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27064" y="3639312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▸  </a:t>
            </a:r>
            <a:r>
              <a:rPr lang="en-US" sz="1000" dirty="0">
                <a:solidFill>
                  <a:srgbClr val="1A2B3C"/>
                </a:solidFill>
              </a:rPr>
              <a:t>Purpose-built for hospitality B2B contracts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27064" y="4233672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▸  </a:t>
            </a:r>
            <a:r>
              <a:rPr lang="en-US" sz="1000" dirty="0">
                <a:solidFill>
                  <a:srgbClr val="1A2B3C"/>
                </a:solidFill>
              </a:rPr>
              <a:t>ESG-aligned — enables corporate plastic targets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SHARK CRITIQUE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2EBF2"/>
                </a:solidFill>
              </a:rPr>
              <a:t>PRIMARY OBJECTION SELECTED: Mark Cuban — "The Market Is Too Small"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1078992"/>
          </a:xfrm>
          <a:prstGeom prst="rect">
            <a:avLst/>
          </a:prstGeom>
          <a:solidFill>
            <a:srgbClr val="F5F9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896112" cy="10789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89611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25880" y="1353312"/>
            <a:ext cx="7269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MARKET SIZE — TAM TOO SMALL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1664208"/>
            <a:ext cx="7269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Cuban argued that eco-conscious consumers willing to overhaul a personal-care habit represent a narrow slice of the addressable market. "This is a science project, not a business" captures the sentiment — a product without sufficient TAM cannot generate venture-scale returns regardless of execution quality.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496312"/>
            <a:ext cx="8503920" cy="1078992"/>
          </a:xfrm>
          <a:prstGeom prst="rect">
            <a:avLst/>
          </a:prstGeom>
          <a:solidFill>
            <a:srgbClr val="F5F9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496312"/>
            <a:ext cx="896112" cy="10789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2496312"/>
            <a:ext cx="89611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325880" y="2587752"/>
            <a:ext cx="7269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"FEATURE, NOT A PRODUCT"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898648"/>
            <a:ext cx="7269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The core IP — a water-soluble biodegradable pod — is a formulation technology, not a standalone brand moat. P&amp;G, Unilever, or Henkel could license or replicate within 18 months of patent publication. This makes Nohbo more of an ingredient innovation than a defensible consumer brand.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730752"/>
            <a:ext cx="8503920" cy="1078992"/>
          </a:xfrm>
          <a:prstGeom prst="rect">
            <a:avLst/>
          </a:prstGeom>
          <a:solidFill>
            <a:srgbClr val="F5F9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3730752"/>
            <a:ext cx="896112" cy="107899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3730752"/>
            <a:ext cx="89611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325880" y="3822192"/>
            <a:ext cx="7269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HABIT CHANGE BARRIER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25880" y="4133088"/>
            <a:ext cx="7269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Convincing mainstream consumers to abandon familiar liquid shampoo requires significant behavioral re-education. Without a clear distribution and education channel strategy, customer acquisition costs for individual consumers would be prohibitively high at scale.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838F"/>
                </a:solidFill>
              </a:rPr>
              <a:t>CRITIQUE PRIORITISATION MATRIX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'Market Too Small' Is the Most Critical Objection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2761488" cy="3703320"/>
          </a:xfrm>
          <a:prstGeom prst="rect">
            <a:avLst/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761488" cy="438912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LEAST CRITICAL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1719072"/>
            <a:ext cx="502920" cy="502920"/>
          </a:xfrm>
          <a:prstGeom prst="ellipse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50592" y="1719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3/10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71907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Habit Change Barrier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2267712"/>
            <a:ext cx="2542032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Behavioral change is real but conquerable. Listerine created the mouthwash habit from scratch. Febreze turned fabric-spraying into a ritual. This is a GTM problem, not a structural flaw in the business model.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4224528"/>
            <a:ext cx="2761488" cy="640080"/>
          </a:xfrm>
          <a:prstGeom prst="rect">
            <a:avLst/>
          </a:prstGeom>
          <a:solidFill>
            <a:srgbClr val="607D8B">
              <a:alpha val="30000"/>
            </a:srgbClr>
          </a:solidFill>
          <a:ln w="12700">
            <a:solidFill>
              <a:srgbClr val="607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4242816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Fixable with the right marketing strategy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82112" y="1170432"/>
            <a:ext cx="2761488" cy="3703320"/>
          </a:xfrm>
          <a:prstGeom prst="rect">
            <a:avLst/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82112" y="1170432"/>
            <a:ext cx="2761488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73552" y="1188720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MODERATELY CRITICAL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58384" y="1719072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58384" y="1719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6/10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0" y="171907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"Feature, Not a Product"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2267712"/>
            <a:ext cx="2542032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Valid concern, but navigable. Nohbo can choose to license IP to a CPG giant OR build a brand — both are legitimate paths. A strong patent provides negotiating leverage either way.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82112" y="4224528"/>
            <a:ext cx="2761488" cy="640080"/>
          </a:xfrm>
          <a:prstGeom prst="rect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73552" y="4242816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Strategic choice, not a death sentence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89904" y="1170432"/>
            <a:ext cx="2761488" cy="37033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89904" y="1170432"/>
            <a:ext cx="2761488" cy="4389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81344" y="1188720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MOST CRITICAL 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66176" y="1719072"/>
            <a:ext cx="502920" cy="5029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66176" y="1719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9/10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99632" y="171907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Market Is Too Small (TAM)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99632" y="2267712"/>
            <a:ext cx="2542032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This is a structural ceiling attack. Even perfect execution cannot produce venture returns if the addressable market is too small. The ONLY resolution: pivot TAM to B2B hospitality (1B bottles/yr).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9904" y="4224528"/>
            <a:ext cx="2761488" cy="6400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81344" y="4242816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Structural — requires segment pivot to resolve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838F"/>
                </a:solidFill>
              </a:rPr>
              <a:t>BASES OF SEGMENTATION — SLIDE 1 OF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Initial Segmentation: Demographic &amp; Geographic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36576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160520" cy="36576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7043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DEMOGRAPHIC SEGMENTATION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4160520" cy="493776"/>
          </a:xfrm>
          <a:prstGeom prst="rect">
            <a:avLst/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655064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165506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18–45 yrs | Millennials &amp; Gen Z primary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48840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2203704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Gender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3040" y="220370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Predominantly female (primary buyer); male growing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697480"/>
            <a:ext cx="4160520" cy="493776"/>
          </a:xfrm>
          <a:prstGeom prst="rect">
            <a:avLst/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2752344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Income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63040" y="275234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Middle to upper-middle class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246120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3300984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Occupation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63040" y="330098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Working professionals with disposable income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794760"/>
            <a:ext cx="4160520" cy="493776"/>
          </a:xfrm>
          <a:prstGeom prst="rect">
            <a:avLst/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3849624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Lifestyle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63040" y="384962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Eco-conscious, sustainability-aware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343400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4048" y="4398264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Travel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63040" y="439826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Frequent travelers, hotel guests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1170432"/>
            <a:ext cx="4160520" cy="3657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09160" y="117043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GEOGRAPHIC SEGMENTATION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1600200"/>
            <a:ext cx="4160520" cy="493776"/>
          </a:xfrm>
          <a:prstGeom prst="rect">
            <a:avLst/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18888" y="1655064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38F"/>
                </a:solidFill>
              </a:rPr>
              <a:t>Primary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97880" y="165506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USA — Shark Tank origin market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148840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18888" y="2203704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38F"/>
                </a:solidFill>
              </a:rPr>
              <a:t>Channel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97880" y="220370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Online-first: DTC site, Amazon, eco-retail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2697480"/>
            <a:ext cx="4160520" cy="493776"/>
          </a:xfrm>
          <a:prstGeom prst="rect">
            <a:avLst/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18888" y="2752344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38F"/>
                </a:solidFill>
              </a:rPr>
              <a:t>B2B Reach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97880" y="275234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Hotel chains, airlines, cruise lines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246120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18888" y="3300984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38F"/>
                </a:solidFill>
              </a:rPr>
              <a:t>Expansion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97880" y="330098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EU, Canada, Australia (ESG-regulated markets)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3794760"/>
            <a:ext cx="4160520" cy="493776"/>
          </a:xfrm>
          <a:prstGeom prst="rect">
            <a:avLst/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18888" y="3849624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38F"/>
                </a:solidFill>
              </a:rPr>
              <a:t>Urban focus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897880" y="384962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Environmentally regulated, sustainability-led cities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9160" y="4343400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18888" y="4398264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38F"/>
                </a:solidFill>
              </a:rPr>
              <a:t>Constraint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897880" y="439826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Requires cold-chain or dry-format logistics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838F"/>
                </a:solidFill>
              </a:rPr>
              <a:t>BASES OF SEGMENTATION — SLIDE 2 OF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Initial Segmentation: Psychographic &amp; Behavioural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36576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114800" cy="36576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704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PSYCHOGRAPHIC PROFILE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64008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7099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</a:rPr>
              <a:t>  Lifestyle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Eco-Warrior — zero waste is an identity, not a trend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487168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487168"/>
            <a:ext cx="64008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" y="25511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</a:rPr>
              <a:t>  Values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" y="28529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Sustainability over convenience or price sensitivity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328416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328416"/>
            <a:ext cx="64008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33924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</a:rPr>
              <a:t>  Identity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6941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"I travel light and leave no trace" — visible virtue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169664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4169664"/>
            <a:ext cx="64008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" y="42336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</a:rPr>
              <a:t>  Community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8912" y="45354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Active in r/ZeroWaste, eco-travel vlogs, IG #zerowaste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170432"/>
            <a:ext cx="4160520" cy="3657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117043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BEHAVIOURAL PURCHASE JOURNEY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645920"/>
            <a:ext cx="4160520" cy="585216"/>
          </a:xfrm>
          <a:prstGeom prst="rect">
            <a:avLst/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1645920"/>
            <a:ext cx="1078992" cy="5852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63440" y="1645920"/>
            <a:ext cx="10789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TRIGGER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33872" y="1755648"/>
            <a:ext cx="2907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Plans eco-trip or sets plastic-reduction goal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304288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63440" y="2304288"/>
            <a:ext cx="1078992" cy="585216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63440" y="2304288"/>
            <a:ext cx="10789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RESEARCH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33872" y="2414016"/>
            <a:ext cx="2907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YouTube reviews, eco-blogs, Reddit r/ZeroWaste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962656"/>
            <a:ext cx="4160520" cy="585216"/>
          </a:xfrm>
          <a:prstGeom prst="rect">
            <a:avLst/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63440" y="2962656"/>
            <a:ext cx="1078992" cy="585216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63440" y="2962656"/>
            <a:ext cx="10789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COMPARE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33872" y="3072384"/>
            <a:ext cx="2907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Evaluates vs shampoo bars (Lush, Ethique), liquid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621024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663440" y="3621024"/>
            <a:ext cx="1078992" cy="5852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63440" y="3621024"/>
            <a:ext cx="10789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PURCHASE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33872" y="3730752"/>
            <a:ext cx="2907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Buys online after 1–2 week deliberation cycle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4279392"/>
            <a:ext cx="4160520" cy="585216"/>
          </a:xfrm>
          <a:prstGeom prst="rect">
            <a:avLst/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663440" y="4279392"/>
            <a:ext cx="1078992" cy="58521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663440" y="4279392"/>
            <a:ext cx="10789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ADVOCACY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33872" y="4389120"/>
            <a:ext cx="2907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Posts #zerowaste content — brand's organic channel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4983480"/>
            <a:ext cx="4160520" cy="18288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838F"/>
                </a:solidFill>
              </a:rPr>
              <a:t>COMPETITIVE POSITIONING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Positioning vs. Competitors — Perceptual 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423160" cy="1783080"/>
          </a:xfrm>
          <a:prstGeom prst="rect">
            <a:avLst/>
          </a:prstGeom>
          <a:solidFill>
            <a:srgbClr val="FFF8E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88920" y="1188720"/>
            <a:ext cx="2423160" cy="1783080"/>
          </a:xfrm>
          <a:prstGeom prst="rect">
            <a:avLst/>
          </a:prstGeom>
          <a:solidFill>
            <a:srgbClr val="E8F5E9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2971800"/>
            <a:ext cx="2423160" cy="1783080"/>
          </a:xfrm>
          <a:prstGeom prst="rect">
            <a:avLst/>
          </a:prstGeom>
          <a:solidFill>
            <a:srgbClr val="FFF3E0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88920" y="2971800"/>
            <a:ext cx="2423160" cy="1783080"/>
          </a:xfrm>
          <a:prstGeom prst="rect">
            <a:avLst/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96012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</a:rPr>
              <a:t>HIGH ECO-CONSCIOUSNESS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479145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65100"/>
                </a:solidFill>
              </a:rPr>
              <a:t>LOW ECO-CONSCIOUSNESS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" y="2327148"/>
            <a:ext cx="320040" cy="1289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07D8B"/>
                </a:solidFill>
              </a:rPr>
              <a:t>L</a:t>
            </a:r>
            <a:br>
              <a:rPr lang="en-US" sz="800" b="1" dirty="0">
                <a:solidFill>
                  <a:srgbClr val="607D8B"/>
                </a:solidFill>
              </a:rPr>
            </a:br>
            <a:r>
              <a:rPr lang="en-US" sz="800" b="1" dirty="0">
                <a:solidFill>
                  <a:srgbClr val="607D8B"/>
                </a:solidFill>
              </a:rPr>
              <a:t>OW</a:t>
            </a:r>
            <a:br>
              <a:rPr lang="en-US" sz="800" b="1" dirty="0">
                <a:solidFill>
                  <a:srgbClr val="607D8B"/>
                </a:solidFill>
              </a:rPr>
            </a:b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607D8B"/>
                </a:solidFill>
              </a:rPr>
              <a:t>P</a:t>
            </a:r>
            <a:br>
              <a:rPr lang="en-US" sz="800" b="1" dirty="0">
                <a:solidFill>
                  <a:srgbClr val="607D8B"/>
                </a:solidFill>
              </a:rPr>
            </a:br>
            <a:r>
              <a:rPr lang="en-US" sz="800" b="1" dirty="0">
                <a:solidFill>
                  <a:srgbClr val="607D8B"/>
                </a:solidFill>
              </a:rPr>
              <a:t>R</a:t>
            </a:r>
            <a:br>
              <a:rPr lang="en-US" sz="800" b="1" dirty="0">
                <a:solidFill>
                  <a:srgbClr val="607D8B"/>
                </a:solidFill>
              </a:rPr>
            </a:br>
            <a:r>
              <a:rPr lang="en-US" sz="800" b="1" dirty="0">
                <a:solidFill>
                  <a:srgbClr val="607D8B"/>
                </a:solidFill>
              </a:rPr>
              <a:t>I</a:t>
            </a:r>
            <a:br>
              <a:rPr lang="en-US" sz="800" b="1" dirty="0">
                <a:solidFill>
                  <a:srgbClr val="607D8B"/>
                </a:solidFill>
              </a:rPr>
            </a:br>
            <a:r>
              <a:rPr lang="en-US" sz="800" b="1" dirty="0">
                <a:solidFill>
                  <a:srgbClr val="607D8B"/>
                </a:solidFill>
              </a:rPr>
              <a:t>C</a:t>
            </a:r>
            <a:br>
              <a:rPr lang="en-US" sz="800" b="1" dirty="0">
                <a:solidFill>
                  <a:srgbClr val="607D8B"/>
                </a:solidFill>
              </a:rPr>
            </a:br>
            <a:r>
              <a:rPr lang="en-US" sz="800" b="1" dirty="0">
                <a:solidFill>
                  <a:srgbClr val="607D8B"/>
                </a:solidFill>
              </a:rPr>
              <a:t>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161788" y="2326988"/>
            <a:ext cx="347472" cy="1289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07D8B"/>
                </a:solidFill>
              </a:rPr>
              <a:t>H</a:t>
            </a:r>
            <a:br>
              <a:rPr lang="en-US" sz="800" b="1" dirty="0">
                <a:solidFill>
                  <a:srgbClr val="607D8B"/>
                </a:solidFill>
              </a:rPr>
            </a:br>
            <a:r>
              <a:rPr lang="en-US" sz="800" b="1" dirty="0">
                <a:solidFill>
                  <a:srgbClr val="607D8B"/>
                </a:solidFill>
              </a:rPr>
              <a:t>I</a:t>
            </a:r>
            <a:br>
              <a:rPr lang="en-US" sz="800" b="1" dirty="0">
                <a:solidFill>
                  <a:srgbClr val="607D8B"/>
                </a:solidFill>
              </a:rPr>
            </a:br>
            <a:r>
              <a:rPr lang="en-US" sz="800" b="1" dirty="0">
                <a:solidFill>
                  <a:srgbClr val="607D8B"/>
                </a:solidFill>
              </a:rPr>
              <a:t>G</a:t>
            </a:r>
            <a:br>
              <a:rPr lang="en-US" sz="800" b="1" dirty="0">
                <a:solidFill>
                  <a:srgbClr val="607D8B"/>
                </a:solidFill>
              </a:rPr>
            </a:br>
            <a:r>
              <a:rPr lang="en-US" sz="800" b="1" dirty="0">
                <a:solidFill>
                  <a:srgbClr val="607D8B"/>
                </a:solidFill>
              </a:rPr>
              <a:t>H</a:t>
            </a:r>
            <a:br>
              <a:rPr lang="en-US" sz="800" b="1" dirty="0">
                <a:solidFill>
                  <a:srgbClr val="607D8B"/>
                </a:solidFill>
              </a:rPr>
            </a:b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607D8B"/>
                </a:solidFill>
              </a:rPr>
              <a:t>P</a:t>
            </a:r>
            <a:br>
              <a:rPr lang="en-US" sz="800" b="1" dirty="0">
                <a:solidFill>
                  <a:srgbClr val="607D8B"/>
                </a:solidFill>
              </a:rPr>
            </a:br>
            <a:r>
              <a:rPr lang="en-US" sz="800" b="1" dirty="0">
                <a:solidFill>
                  <a:srgbClr val="607D8B"/>
                </a:solidFill>
              </a:rPr>
              <a:t>R</a:t>
            </a:r>
            <a:br>
              <a:rPr lang="en-US" sz="800" b="1" dirty="0">
                <a:solidFill>
                  <a:srgbClr val="607D8B"/>
                </a:solidFill>
              </a:rPr>
            </a:br>
            <a:r>
              <a:rPr lang="en-US" sz="800" b="1" dirty="0">
                <a:solidFill>
                  <a:srgbClr val="607D8B"/>
                </a:solidFill>
              </a:rPr>
              <a:t>I</a:t>
            </a:r>
            <a:br>
              <a:rPr lang="en-US" sz="800" b="1" dirty="0">
                <a:solidFill>
                  <a:srgbClr val="607D8B"/>
                </a:solidFill>
              </a:rPr>
            </a:br>
            <a:r>
              <a:rPr lang="en-US" sz="800" b="1" dirty="0">
                <a:solidFill>
                  <a:srgbClr val="607D8B"/>
                </a:solidFill>
              </a:rPr>
              <a:t>C</a:t>
            </a:r>
            <a:br>
              <a:rPr lang="en-US" sz="800" b="1" dirty="0">
                <a:solidFill>
                  <a:srgbClr val="607D8B"/>
                </a:solidFill>
              </a:rPr>
            </a:br>
            <a:r>
              <a:rPr lang="en-US" sz="800" b="1" dirty="0">
                <a:solidFill>
                  <a:srgbClr val="607D8B"/>
                </a:solidFill>
              </a:rPr>
              <a:t>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84632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88920" y="1188720"/>
            <a:ext cx="0" cy="356616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9390" y="4015499"/>
            <a:ext cx="347472" cy="34747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09350" y="4408691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65100"/>
                </a:solidFill>
              </a:rPr>
              <a:t>Chinese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65100"/>
                </a:solidFill>
              </a:rPr>
              <a:t>Imports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280160" y="3931920"/>
            <a:ext cx="347472" cy="347472"/>
          </a:xfrm>
          <a:prstGeom prst="ellipse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432511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</a:rPr>
              <a:t>Head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07D8B"/>
                </a:solidFill>
              </a:rPr>
              <a:t>Shoulders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14400" y="1645920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203911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7D32"/>
                </a:solidFill>
              </a:rPr>
              <a:t>Lush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E7D32"/>
                </a:solidFill>
              </a:rPr>
              <a:t>Bars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8800" y="1417320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508760" y="184708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7D32"/>
                </a:solidFill>
              </a:rPr>
              <a:t>Ethique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E7D32"/>
                </a:solidFill>
              </a:rPr>
              <a:t>Bars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46120" y="1325880"/>
            <a:ext cx="54864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191256" y="1271016"/>
            <a:ext cx="658368" cy="658368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926080" y="19202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NOHBO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24901" y="1193051"/>
            <a:ext cx="3429000" cy="3703320"/>
          </a:xfrm>
          <a:prstGeom prst="rect">
            <a:avLst/>
          </a:prstGeom>
          <a:solidFill>
            <a:srgbClr val="F5F9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77840" y="12344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838F"/>
                </a:solidFill>
              </a:rPr>
              <a:t>COMPETITIVE LANDSCAPE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1737360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43600" y="1664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NOHBO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0" y="1938528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</a:rPr>
              <a:t>High Eco / High Price · First-mover in dissolvable pods · Premium positioning · Needs scale via B2B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77840" y="2532888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43600" y="24597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Lush &amp; Ethique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0" y="2734056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</a:rPr>
              <a:t>High Eco / Mid Price · Solid shampoo bars · Loyal eco base · Different format category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77840" y="3328416"/>
            <a:ext cx="256032" cy="256032"/>
          </a:xfrm>
          <a:prstGeom prst="ellipse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43600" y="32552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7D8B"/>
                </a:solidFill>
              </a:rPr>
              <a:t>Head &amp; Shoulders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0" y="3529584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</a:rPr>
              <a:t>Low Eco / Low Price · Mass market · Zero sustainability narrative · P&amp;G distribution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77840" y="4123944"/>
            <a:ext cx="256032" cy="25603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943600" y="4050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</a:rPr>
              <a:t>Chinese Imports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0" y="4325112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</a:rPr>
              <a:t>No Eco / Very Low Price · Amazon race-to-bottom · Quality concerns · No brand moat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/>
          <p:nvPr/>
        </p:nvSpPr>
        <p:spPr>
          <a:xfrm>
            <a:off x="4572000" y="2066544"/>
            <a:ext cx="0" cy="182880"/>
          </a:xfrm>
          <a:prstGeom prst="line">
            <a:avLst/>
          </a:prstGeom>
          <a:noFill/>
          <a:ln w="190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72000" y="3383280"/>
            <a:ext cx="0" cy="164592"/>
          </a:xfrm>
          <a:prstGeom prst="line">
            <a:avLst/>
          </a:prstGeom>
          <a:noFill/>
          <a:ln w="190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743200" y="1907567"/>
            <a:ext cx="777240" cy="908785"/>
          </a:xfrm>
          <a:prstGeom prst="line">
            <a:avLst/>
          </a:prstGeom>
          <a:noFill/>
          <a:ln w="190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623560" y="2816352"/>
            <a:ext cx="822960" cy="0"/>
          </a:xfrm>
          <a:prstGeom prst="line">
            <a:avLst/>
          </a:prstGeom>
          <a:noFill/>
          <a:ln w="190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7">
            <a:extLst>
              <a:ext uri="{FF2B5EF4-FFF2-40B4-BE49-F238E27FC236}">
                <a16:creationId xmlns:a16="http://schemas.microsoft.com/office/drawing/2014/main" id="{6928B22E-6995-DE34-114A-A4FF98BD7B3E}"/>
              </a:ext>
            </a:extLst>
          </p:cNvPr>
          <p:cNvSpPr/>
          <p:nvPr/>
        </p:nvSpPr>
        <p:spPr>
          <a:xfrm flipV="1">
            <a:off x="2770632" y="2840253"/>
            <a:ext cx="749808" cy="908785"/>
          </a:xfrm>
          <a:prstGeom prst="line">
            <a:avLst/>
          </a:prstGeom>
          <a:noFill/>
          <a:ln w="190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838F"/>
                </a:solidFill>
              </a:rPr>
              <a:t>MARKETING FRAMEWORK — INDUSTRY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Porter's Five Forces: Competitive Environment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36576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520440" y="2240280"/>
            <a:ext cx="2103120" cy="114300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520440" y="2240280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NOHBO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Personal Care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Eco-Products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20440" y="987552"/>
            <a:ext cx="2103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520440" y="987552"/>
            <a:ext cx="2103120" cy="3200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93592" y="1024128"/>
            <a:ext cx="19568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COMPETITIVE RIVALRY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18888" y="1024128"/>
            <a:ext cx="749808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18888" y="102412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65100"/>
                </a:solidFill>
              </a:rPr>
              <a:t>HIGH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11880" y="1353312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Lush, Ethique (bars); liquid shampoo incumbents. Amazon clone sellers. Price wars intense in eco-segment.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46520" y="2212848"/>
            <a:ext cx="23774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46520" y="2212848"/>
            <a:ext cx="2377440" cy="3200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19672" y="2249424"/>
            <a:ext cx="22311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THREAT OF NEW ENTRANTS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19288" y="2249424"/>
            <a:ext cx="749808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19288" y="2249424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65100"/>
                </a:solidFill>
              </a:rPr>
              <a:t>HIGH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37960" y="2578608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P&amp;G / Unilever can replicate formulation within 18 months. Low capital barrier for pod manufacturing.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20440" y="3547872"/>
            <a:ext cx="21031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520440" y="3547872"/>
            <a:ext cx="2103120" cy="3200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93592" y="3584448"/>
            <a:ext cx="195681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BUYER POWER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18888" y="3584448"/>
            <a:ext cx="749808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18888" y="358444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65100"/>
                </a:solidFill>
              </a:rPr>
              <a:t>HIGH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11880" y="3913632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Individual consumers: high switching cost is low. Hotels: very high buying power — set contract terms.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93192" y="3168396"/>
            <a:ext cx="23774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93192" y="3168396"/>
            <a:ext cx="237744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6344" y="3204972"/>
            <a:ext cx="22311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SUPPLIER POWER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965960" y="3204972"/>
            <a:ext cx="749808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965960" y="320497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65C0"/>
                </a:solidFill>
              </a:rPr>
              <a:t>MEDIUM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4632" y="3534156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Biodegradable polymer suppliers are concentrated. Specialty ingredients add cost pressure.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1386359"/>
            <a:ext cx="2377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65760" y="1386359"/>
            <a:ext cx="237744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38912" y="1422935"/>
            <a:ext cx="22311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THREAT OF SUBSTITUTES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938528" y="1422935"/>
            <a:ext cx="749808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938528" y="1422935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65C0"/>
                </a:solidFill>
              </a:rPr>
              <a:t>MEDIUM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1752119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Shampoo bars (Lush), solid conditioners, and refillable systems all substitute.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 EVALUATION OF STP STRATEGY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035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EBF2"/>
                </a:solidFill>
              </a:rPr>
              <a:t>What Nohbo Got Right — And Where the Strategy Broke Down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1371600" cy="38404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097280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DIMENSION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0" y="1078992"/>
            <a:ext cx="1234440" cy="38404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19072" y="1097280"/>
            <a:ext cx="1088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80360" y="1078992"/>
            <a:ext cx="2834640" cy="38404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53512" y="1097280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THEY GOT RIGHT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15000" y="1078992"/>
            <a:ext cx="3246120" cy="38404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88152" y="1097280"/>
            <a:ext cx="3099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WENT WRONG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536192"/>
            <a:ext cx="1371600" cy="1078992"/>
          </a:xfrm>
          <a:prstGeom prst="rect">
            <a:avLst/>
          </a:prstGeom>
          <a:solidFill>
            <a:srgbClr val="0D3B6E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536192"/>
            <a:ext cx="13716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SEGMENTATION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45920" y="1536192"/>
            <a:ext cx="1234440" cy="1078992"/>
          </a:xfrm>
          <a:prstGeom prst="rect">
            <a:avLst/>
          </a:prstGeom>
          <a:solidFill>
            <a:srgbClr val="1565C0">
              <a:alpha val="88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783080" y="1856232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783080" y="1856232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PARTIALLY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RIGHT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80360" y="1536192"/>
            <a:ext cx="2834640" cy="1078992"/>
          </a:xfrm>
          <a:prstGeom prst="rect">
            <a:avLst/>
          </a:prstGeom>
          <a:solidFill>
            <a:srgbClr val="E8F5E9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71800" y="1609344"/>
            <a:ext cx="263347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✓  Correctly identified eco-conscious consumers. Recognized hospitality as high-volume B2B channel.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715000" y="1536192"/>
            <a:ext cx="3246120" cy="1078992"/>
          </a:xfrm>
          <a:prstGeom prst="rect">
            <a:avLst/>
          </a:prstGeom>
          <a:solidFill>
            <a:srgbClr val="FFF3E0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06440" y="1609344"/>
            <a:ext cx="303580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✗  Over-indexed on demographics over behavior. Missed 'convenience converts' — consumers who switch for ease, not ethics. B2B dramatically underweighted.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706624"/>
            <a:ext cx="1371600" cy="1078992"/>
          </a:xfrm>
          <a:prstGeom prst="rect">
            <a:avLst/>
          </a:prstGeom>
          <a:solidFill>
            <a:srgbClr val="0D3B6E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2706624"/>
            <a:ext cx="13716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TARGETING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645920" y="2706624"/>
            <a:ext cx="1234440" cy="1078992"/>
          </a:xfrm>
          <a:prstGeom prst="rect">
            <a:avLst/>
          </a:prstGeom>
          <a:solidFill>
            <a:srgbClr val="E65100">
              <a:alpha val="88000"/>
            </a:srgbClr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783080" y="3026664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783080" y="3026664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TOO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NARROW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80360" y="2706624"/>
            <a:ext cx="2834640" cy="1078992"/>
          </a:xfrm>
          <a:prstGeom prst="rect">
            <a:avLst/>
          </a:prstGeom>
          <a:solidFill>
            <a:srgbClr val="E8F5E9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971800" y="2779776"/>
            <a:ext cx="263347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✓  Eco early-adopters: strong proof-of-concept, high organic advocacy, credible brand seed.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715000" y="2706624"/>
            <a:ext cx="3246120" cy="1078992"/>
          </a:xfrm>
          <a:prstGeom prst="rect">
            <a:avLst/>
          </a:prstGeom>
          <a:solidFill>
            <a:srgbClr val="FFF3E0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806440" y="2779776"/>
            <a:ext cx="303580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✗  'All eco-consumers' = no beachhead. No single niche dominated first. Failed to anchor in hospitality procurement — 1 hotel deal &gt; 10,000 DTC customers.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877056"/>
            <a:ext cx="1371600" cy="1078992"/>
          </a:xfrm>
          <a:prstGeom prst="rect">
            <a:avLst/>
          </a:prstGeom>
          <a:solidFill>
            <a:srgbClr val="0D3B6E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3877056"/>
            <a:ext cx="13716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POSITIONING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645920" y="3877056"/>
            <a:ext cx="1234440" cy="1078992"/>
          </a:xfrm>
          <a:prstGeom prst="rect">
            <a:avLst/>
          </a:prstGeom>
          <a:solidFill>
            <a:srgbClr val="CC2200">
              <a:alpha val="88000"/>
            </a:srgbClr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783080" y="4197096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783080" y="4197096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WEAK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880360" y="3877056"/>
            <a:ext cx="2834640" cy="1078992"/>
          </a:xfrm>
          <a:prstGeom prst="rect">
            <a:avLst/>
          </a:prstGeom>
          <a:solidFill>
            <a:srgbClr val="E8F5E9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971800" y="3950208"/>
            <a:ext cx="263347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</a:rPr>
              <a:t>✓  'Zero plastic' is emotionally resonant. ESG-aligned narrative is defensible and genuinely compelling.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715000" y="3877056"/>
            <a:ext cx="3246120" cy="1078992"/>
          </a:xfrm>
          <a:prstGeom prst="rect">
            <a:avLst/>
          </a:prstGeom>
          <a:solidFill>
            <a:srgbClr val="FFF3E0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806440" y="3950208"/>
            <a:ext cx="303580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✗  "Better shampoo without plastic" = feature claim, not brand identity. No emotional position beyond the pod technology. Nobody could articulate what Nohbo STANDS FOR.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838F"/>
                </a:solidFill>
              </a:rPr>
              <a:t>MARKETING FRAMEWORK — GROWTH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Ansoff Matrix: Nohbo's Segment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36576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005840"/>
            <a:ext cx="2286000" cy="1920240"/>
          </a:xfrm>
          <a:prstGeom prst="rect">
            <a:avLst/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063240" y="1005840"/>
            <a:ext cx="2286000" cy="1920240"/>
          </a:xfrm>
          <a:prstGeom prst="rect">
            <a:avLst/>
          </a:prstGeom>
          <a:solidFill>
            <a:srgbClr val="E8F5E9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926080"/>
            <a:ext cx="2286000" cy="1920240"/>
          </a:xfrm>
          <a:prstGeom prst="rect">
            <a:avLst/>
          </a:prstGeom>
          <a:solidFill>
            <a:srgbClr val="FFF8E1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063240" y="2926080"/>
            <a:ext cx="2286000" cy="1920240"/>
          </a:xfrm>
          <a:prstGeom prst="rect">
            <a:avLst/>
          </a:prstGeom>
          <a:solidFill>
            <a:srgbClr val="FFF3E0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1155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MARKET PENETRATION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4630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7D8B"/>
                </a:solidFill>
              </a:rPr>
              <a:t>Existing product, existing market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1755648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Nohbo's current mode: eco-DTC. Low growth ceiling.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54680" y="11155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PRODUCT DEVELOPMENT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54680" y="14630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7D8B"/>
                </a:solidFill>
              </a:rPr>
              <a:t>New product, existing market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54680" y="1755648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New formats: conditioner pods, body wash pods.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2926080"/>
            <a:ext cx="2286000" cy="1920240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30358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MARKET DEVELOPMENT ★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3832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7D8B"/>
                </a:solidFill>
              </a:rPr>
              <a:t>Existing product, new market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3675888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RECOMMENDED: Pivot to B2B hospitality. Same pod, 1B bottle TAM.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54680" y="30358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DIVERSIFICATION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54680" y="33832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7D8B"/>
                </a:solidFill>
              </a:rPr>
              <a:t>New product, new market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54680" y="3675888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High risk — not recommended at current stage.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7726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07D8B"/>
                </a:solidFill>
              </a:rPr>
              <a:t>← EXISTING PRODUCTS             NEW PRODUCTS →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0" y="1371600"/>
            <a:ext cx="7498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07D8B"/>
                </a:solidFill>
              </a:rPr>
              <a:t>EXISTING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607D8B"/>
                </a:solidFill>
              </a:rPr>
              <a:t>MARKETS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0" y="3383280"/>
            <a:ext cx="7498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07D8B"/>
                </a:solidFill>
              </a:rPr>
              <a:t>NEW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607D8B"/>
                </a:solidFill>
              </a:rPr>
              <a:t>MARKETS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577840" y="1005840"/>
            <a:ext cx="3291840" cy="3840480"/>
          </a:xfrm>
          <a:prstGeom prst="rect">
            <a:avLst/>
          </a:prstGeom>
          <a:solidFill>
            <a:srgbClr val="F5F9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577840" y="1005840"/>
            <a:ext cx="329184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69280" y="103327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MARKET DEVELOPMENT?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87568" y="1609344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687568" y="1609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80760" y="15361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Same product, proven technology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807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No R&amp;D spend. The pod already works — logistics and partnerships, not invention.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87568" y="2414016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87568" y="2414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80760" y="23408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TAM multiplies 100x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080760" y="26334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1B hotel mini-bottles/yr vs. ~10M eco-consumers. Revenue ceiling lifted structurally.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87568" y="3218688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687568" y="32186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80760" y="314553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ESG mandates create pull demand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080760" y="343814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Hotels don't need to be convinced — regulation and investor pressure forces the switch.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87568" y="4023360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687568" y="4023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80760" y="39502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B2B2C flywheel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080760" y="424281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Hotel guests try Nohbo → become personal buyers → word-of-mouth DTC channel emerges.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838F"/>
                </a:solidFill>
              </a:rPr>
              <a:t>STRATEGIC RECOMMENDATION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Recommendation: New Segment &amp; Positioning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36576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595360" cy="50292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New Target: "The Sustainable Hospitality Partner" — Hotel procurement, airline amenity buyers, cruise ESG officers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420624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783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WHY THIS SEGMENT WORKS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2212848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▸  </a:t>
            </a:r>
            <a:r>
              <a:rPr lang="en-US" sz="1000" dirty="0">
                <a:solidFill>
                  <a:srgbClr val="1A2B3C"/>
                </a:solidFill>
              </a:rPr>
              <a:t>Hotels replace 1B mini-bottles/yr — one deal = massive volume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679192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▸  </a:t>
            </a:r>
            <a:r>
              <a:rPr lang="en-US" sz="1000" dirty="0">
                <a:solidFill>
                  <a:srgbClr val="1A2B3C"/>
                </a:solidFill>
              </a:rPr>
              <a:t>ESG mandates create regulatory pull demand — not optional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31455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▸  </a:t>
            </a:r>
            <a:r>
              <a:rPr lang="en-US" sz="1000" dirty="0">
                <a:solidFill>
                  <a:srgbClr val="1A2B3C"/>
                </a:solidFill>
              </a:rPr>
              <a:t>1 B2B contract &gt; 10,000 individual DTC customers (revenue)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361188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▸  </a:t>
            </a:r>
            <a:r>
              <a:rPr lang="en-US" sz="1000" dirty="0">
                <a:solidFill>
                  <a:srgbClr val="1A2B3C"/>
                </a:solidFill>
              </a:rPr>
              <a:t>Vocal eco-travelers amplify hotel sustainability on social media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4078224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▸  </a:t>
            </a:r>
            <a:r>
              <a:rPr lang="en-US" sz="1000" dirty="0">
                <a:solidFill>
                  <a:srgbClr val="1A2B3C"/>
                </a:solidFill>
              </a:rPr>
              <a:t>Subscription/replenishment = predictable ARR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4544568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▸  </a:t>
            </a:r>
            <a:r>
              <a:rPr lang="en-US" sz="1000" dirty="0">
                <a:solidFill>
                  <a:srgbClr val="1A2B3C"/>
                </a:solidFill>
              </a:rPr>
              <a:t>Underserved by both cheap imports AND premium foreign brands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783080"/>
            <a:ext cx="4160520" cy="10058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0" y="18288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NEW POSITIONING STATEMENT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212140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A1628"/>
                </a:solidFill>
              </a:rPr>
              <a:t>"The hotel that uses Nohbo is the hotel that cares."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9160" y="294436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STRATEGIC ROADMAP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291840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73168" y="3364992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73168" y="3364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57800" y="3328416"/>
            <a:ext cx="3493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B6E"/>
                </a:solidFill>
              </a:rPr>
              <a:t>WIN HOSPITALITY FIRST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57800" y="3566160"/>
            <a:ext cx="3493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Partner with 5 hotel chains. Make Nohbo the Nespresso of hotel shampoo. Use this to prove scale.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3886200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73168" y="3959352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73168" y="3959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922776"/>
            <a:ext cx="3493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B6E"/>
                </a:solidFill>
              </a:rPr>
              <a:t>BUILD DTC VIA B2B2C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4160520"/>
            <a:ext cx="3493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Convert hotel guests into personal buyers. The hotel stay becomes a free trial and acquisition channel.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4480560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73168" y="4553712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73168" y="4553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57800" y="4517136"/>
            <a:ext cx="3493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3B6E"/>
                </a:solidFill>
              </a:rPr>
              <a:t>ENTER ECO-RETAIL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57800" y="4754880"/>
            <a:ext cx="34930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After hospitality proof-of-scale, enter Whole Foods, REI, and international eco-markets with credibility.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D3B6E">
              <a:alpha val="40000"/>
            </a:srgbClr>
          </a:solidFill>
          <a:ln w="12700">
            <a:solidFill>
              <a:srgbClr val="0D3B6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00838F">
              <a:alpha val="30000"/>
            </a:srgbClr>
          </a:solidFill>
          <a:ln w="12700">
            <a:solidFill>
              <a:srgbClr val="00838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2EBF2"/>
                </a:solidFill>
              </a:rPr>
              <a:t>NOHBO — What the Sharks Really Said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832104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8503920" cy="777240"/>
          </a:xfrm>
          <a:prstGeom prst="rect">
            <a:avLst/>
          </a:prstGeom>
          <a:solidFill>
            <a:srgbClr val="0D3B6E">
              <a:alpha val="75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804672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234440"/>
            <a:ext cx="804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34440" y="1307592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EBF2"/>
                </a:solidFill>
              </a:rPr>
              <a:t>Innovation ≠ Business Model.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1600200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9FF"/>
                </a:solidFill>
              </a:rPr>
              <a:t>Nohbo's technology is genuinely brilliant. But a great invention is not automatically a great business — TAM must be sufficient for venture-scale returns.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121408"/>
            <a:ext cx="8503920" cy="777240"/>
          </a:xfrm>
          <a:prstGeom prst="rect">
            <a:avLst/>
          </a:prstGeom>
          <a:solidFill>
            <a:srgbClr val="0D3B6E">
              <a:alpha val="75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121408"/>
            <a:ext cx="804672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121408"/>
            <a:ext cx="804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34440" y="2194560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EBF2"/>
                </a:solidFill>
              </a:rPr>
              <a:t>Target the System, Not Just the Consumer.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2487168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9FF"/>
                </a:solidFill>
              </a:rPr>
              <a:t>B2B hospitality is the correct beachhead — not eco-shoppers on Amazon. One hotel chain deal unlocks more revenue than years of DTC sales.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08376"/>
            <a:ext cx="8503920" cy="777240"/>
          </a:xfrm>
          <a:prstGeom prst="rect">
            <a:avLst/>
          </a:prstGeom>
          <a:solidFill>
            <a:srgbClr val="0D3B6E">
              <a:alpha val="75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008376"/>
            <a:ext cx="804672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008376"/>
            <a:ext cx="804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34440" y="3081528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EBF2"/>
                </a:solidFill>
              </a:rPr>
              <a:t>Positioning Must Be Institutional, Not Lifestyle.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34440" y="3374136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9FF"/>
                </a:solidFill>
              </a:rPr>
              <a:t>"Better shampoo" is a consumer pitch. "Help your brand hit its ESG targets" is an institutional pitch. Nohbo needed to speak procurement, not lifestyle.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895344"/>
            <a:ext cx="8503920" cy="777240"/>
          </a:xfrm>
          <a:prstGeom prst="rect">
            <a:avLst/>
          </a:prstGeom>
          <a:solidFill>
            <a:srgbClr val="0D3B6E">
              <a:alpha val="75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3895344"/>
            <a:ext cx="804672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3895344"/>
            <a:ext cx="804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234440" y="3968496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EBF2"/>
                </a:solidFill>
              </a:rPr>
              <a:t>First-Mover Advantage Is Perishable.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34440" y="4261104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9FF"/>
                </a:solidFill>
              </a:rPr>
              <a:t>The patent window is narrow. Speed to the hospitality channel — before P&amp;G or Unilever replicates — is the only sustainable moat.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0" y="182880"/>
            <a:ext cx="5029200" cy="5029200"/>
          </a:xfrm>
          <a:prstGeom prst="ellipse">
            <a:avLst/>
          </a:prstGeom>
          <a:solidFill>
            <a:srgbClr val="0D3B6E">
              <a:alpha val="45000"/>
            </a:srgbClr>
          </a:solidFill>
          <a:ln w="12700">
            <a:solidFill>
              <a:srgbClr val="0D3B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371600" y="3474720"/>
            <a:ext cx="3657600" cy="3657600"/>
          </a:xfrm>
          <a:prstGeom prst="ellipse">
            <a:avLst/>
          </a:prstGeom>
          <a:solidFill>
            <a:srgbClr val="00838F">
              <a:alpha val="35000"/>
            </a:srgbClr>
          </a:solidFill>
          <a:ln w="12700">
            <a:solidFill>
              <a:srgbClr val="00838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5943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-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411480" y="2447704"/>
            <a:ext cx="457200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2421716"/>
            <a:ext cx="6400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2EBF2"/>
                </a:solidFill>
              </a:rPr>
              <a:t>"Shampoo without the bottle.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B2EBF2"/>
                </a:solidFill>
              </a:rPr>
              <a:t>A planet without the plastic."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3182112"/>
            <a:ext cx="5029200" cy="1481328"/>
          </a:xfrm>
          <a:prstGeom prst="rect">
            <a:avLst/>
          </a:prstGeom>
          <a:solidFill>
            <a:srgbClr val="0D3B6E">
              <a:alpha val="8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23697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2EBF2"/>
                </a:solidFill>
              </a:rPr>
              <a:t>REFERENCES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352958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9FF"/>
                </a:solidFill>
              </a:rPr>
              <a:t>• Shark Tank USA Season 6, Episode — Nohbo pitch (ABC Network)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3785616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9FF"/>
                </a:solidFill>
              </a:rPr>
              <a:t>• Kotler, P. &amp; Keller, K. (2016). Marketing Management, 15th Ed. Pearson.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" y="40416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9FF"/>
                </a:solidFill>
              </a:rPr>
              <a:t>• Porter, M.E. (1980). Competitive Strategy. Free Press.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" y="4297680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9FF"/>
                </a:solidFill>
              </a:rPr>
              <a:t>• Ansoff, H.I. (1957). Strategies for Diversification. Harvard Business Review.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1982</Words>
  <Application>Microsoft Macintosh PowerPoint</Application>
  <PresentationFormat>On-screen Show (16:9)</PresentationFormat>
  <Paragraphs>301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Nohbo — IIM Jammu Marketing Assignment</dc:title>
  <dc:subject>PptxGenJS Presentation</dc:subject>
  <dc:creator>PptxGenJS</dc:creator>
  <cp:lastModifiedBy>AADIR BEN L</cp:lastModifiedBy>
  <cp:revision>5</cp:revision>
  <dcterms:created xsi:type="dcterms:W3CDTF">2026-04-19T22:10:13Z</dcterms:created>
  <dcterms:modified xsi:type="dcterms:W3CDTF">2026-04-19T22:41:16Z</dcterms:modified>
</cp:coreProperties>
</file>